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8A8A8A"/>
                </a:solidFill>
                <a:latin typeface="Arial"/>
              </a:defRPr>
            </a:pPr>
            <a:r>
              <a:t>INFORME GERENCIAL DE OPERACIONES Y MERCADOS</a:t>
            </a:r>
          </a:p>
          <a:p>
            <a:pPr>
              <a:spcAft>
                <a:spcPts val="2400"/>
              </a:spcAft>
              <a:defRPr sz="6400" b="1">
                <a:solidFill>
                  <a:srgbClr val="F5F4F0"/>
                </a:solidFill>
                <a:latin typeface="Impact"/>
              </a:defRPr>
            </a:pPr>
            <a:r>
              <a:t>NICAEXPORT TRADING, S.A.</a:t>
            </a:r>
          </a:p>
          <a:p>
            <a:pPr>
              <a:spcAft>
                <a:spcPts val="4000"/>
              </a:spcAft>
              <a:defRPr sz="1600">
                <a:solidFill>
                  <a:srgbClr val="F5F4F0"/>
                </a:solidFill>
                <a:latin typeface="Arial"/>
              </a:defRPr>
            </a:pPr>
            <a:r>
              <a:t>EVALUACIÓN ESTRATÉGICA DE EXPORTACIONES, RENTABILIDAD Y PRIORIZACIÓN COMERCIAL</a:t>
            </a:r>
          </a:p>
          <a:p>
            <a:pPr>
              <a:defRPr sz="1100" b="1">
                <a:solidFill>
                  <a:srgbClr val="8A8A8A"/>
                </a:solidFill>
                <a:latin typeface="Arial"/>
              </a:defRPr>
            </a:pPr>
            <a:r>
              <a:t>PRESENTADO A: GERENCIA DE NICAEXPORT TRADING, S.A.   |   FUENTE: ANÁLISIS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55555"/>
                </a:solidFill>
                <a:latin typeface="Arial"/>
              </a:defRPr>
            </a:pPr>
            <a:r>
              <a:t>01 / SITUACIÓN Y OBJETIVO</a:t>
            </a:r>
          </a:p>
          <a:p>
            <a:pPr>
              <a:defRPr sz="3400" b="1">
                <a:solidFill>
                  <a:srgbClr val="111111"/>
                </a:solidFill>
                <a:latin typeface="Impact"/>
              </a:defRPr>
            </a:pPr>
            <a:r>
              <a:t>SITUACIÓN ACTUAL Y OBJETIVO ESTRATÉGICO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11111"/>
                </a:solidFill>
                <a:latin typeface="Impact"/>
              </a:defRPr>
            </a:pPr>
            <a:r>
              <a:t>SITUACIÓN ACTUAL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NicaExport Trading, S.A. registra un total de 100 operaciones comerciales evaluadas en el periodo.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Comercialización activa de 5 productos agrícolas clave hacia 5 mercados internacionales (EE.UU., España, México, Guatemala y Costa Rica).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El valor FOB total exportado alcanza los $658,265.00 USD, generando una utilidad neta de $214,072.00 USD.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Se registran 15 operaciones en estado 'Pendiente' que representan oportunidades de agilización logística.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11111"/>
                </a:solidFill>
                <a:latin typeface="Impact"/>
              </a:defRPr>
            </a:pPr>
            <a:r>
              <a:t>OBJETIVO DEL ANÁLISIS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Presentar a la Gerencia General un informe ejecutivo riguroso fundamentado exclusivamente en los datos del análisis en Excel.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Analizar la distribución del valor FOB y utilidad por región, país y producto exportado.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Evaluar los niveles de rentabilidad (promedio general del 32.54%) y la clasificación por prioridad comercial.</a:t>
            </a:r>
          </a:p>
          <a:p>
            <a:pPr>
              <a:spcAft>
                <a:spcPts val="10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Formular hallazgos clave y recomendaciones estratégicas para orientar la toma de decisiones.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02 / RESUMEN DE OPERACIONES</a:t>
            </a:r>
          </a:p>
          <a:p>
            <a:pPr>
              <a:defRPr sz="3400" b="1">
                <a:solidFill>
                  <a:srgbClr val="F5F4F0"/>
                </a:solidFill>
                <a:latin typeface="Impact"/>
              </a:defRPr>
            </a:pPr>
            <a:r>
              <a:t>RESUMEN GENERAL DE OPERACIONES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9184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TOTAL OPERACIONES</a:t>
            </a:r>
          </a:p>
          <a:p>
            <a:pPr>
              <a:spcAft>
                <a:spcPts val="600"/>
              </a:spcAft>
              <a:defRPr sz="3800" b="1">
                <a:solidFill>
                  <a:srgbClr val="F5F4F0"/>
                </a:solidFill>
                <a:latin typeface="Impact"/>
              </a:defRPr>
            </a:pPr>
            <a:r>
              <a:t>100</a:t>
            </a:r>
          </a:p>
          <a:p>
            <a:pPr>
              <a:defRPr sz="1100">
                <a:solidFill>
                  <a:srgbClr val="8A8A8A"/>
                </a:solidFill>
                <a:latin typeface="Arial"/>
              </a:defRPr>
            </a:pPr>
            <a:r>
              <a:t>Transacciones registradas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VALOR FOB TOTAL</a:t>
            </a:r>
          </a:p>
          <a:p>
            <a:pPr>
              <a:spcAft>
                <a:spcPts val="600"/>
              </a:spcAft>
              <a:defRPr sz="3800" b="1">
                <a:solidFill>
                  <a:srgbClr val="F5F4F0"/>
                </a:solidFill>
                <a:latin typeface="Impact"/>
              </a:defRPr>
            </a:pPr>
            <a:r>
              <a:t>$658,265</a:t>
            </a:r>
          </a:p>
          <a:p>
            <a:pPr>
              <a:defRPr sz="1100">
                <a:solidFill>
                  <a:srgbClr val="8A8A8A"/>
                </a:solidFill>
                <a:latin typeface="Arial"/>
              </a:defRPr>
            </a:pPr>
            <a:r>
              <a:t>Monto total exportado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UTILIDAD TOTAL</a:t>
            </a:r>
          </a:p>
          <a:p>
            <a:pPr>
              <a:spcAft>
                <a:spcPts val="600"/>
              </a:spcAft>
              <a:defRPr sz="3800" b="1">
                <a:solidFill>
                  <a:srgbClr val="F5F4F0"/>
                </a:solidFill>
                <a:latin typeface="Impact"/>
              </a:defRPr>
            </a:pPr>
            <a:r>
              <a:t>$214,072</a:t>
            </a:r>
          </a:p>
          <a:p>
            <a:pPr>
              <a:defRPr sz="1100">
                <a:solidFill>
                  <a:srgbClr val="8A8A8A"/>
                </a:solidFill>
                <a:latin typeface="Arial"/>
              </a:defRPr>
            </a:pPr>
            <a:r>
              <a:t>Ganancia acumulada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329184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MARGEN PROMEDIO</a:t>
            </a:r>
          </a:p>
          <a:p>
            <a:pPr>
              <a:spcAft>
                <a:spcPts val="600"/>
              </a:spcAft>
              <a:defRPr sz="3800" b="1">
                <a:solidFill>
                  <a:srgbClr val="F5F4F0"/>
                </a:solidFill>
                <a:latin typeface="Impact"/>
              </a:defRPr>
            </a:pPr>
            <a:r>
              <a:t>32.54%</a:t>
            </a:r>
          </a:p>
          <a:p>
            <a:pPr>
              <a:defRPr sz="1100">
                <a:solidFill>
                  <a:srgbClr val="8A8A8A"/>
                </a:solidFill>
                <a:latin typeface="Arial"/>
              </a:defRPr>
            </a:pPr>
            <a:r>
              <a:t>Rentabilidad general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4023360"/>
            <a:ext cx="329184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UNIDADES EXPORTADAS</a:t>
            </a:r>
          </a:p>
          <a:p>
            <a:pPr>
              <a:spcAft>
                <a:spcPts val="600"/>
              </a:spcAft>
              <a:defRPr sz="3800" b="1">
                <a:solidFill>
                  <a:srgbClr val="F5F4F0"/>
                </a:solidFill>
                <a:latin typeface="Impact"/>
              </a:defRPr>
            </a:pPr>
            <a:r>
              <a:t>102,050</a:t>
            </a:r>
          </a:p>
          <a:p>
            <a:pPr>
              <a:defRPr sz="1100">
                <a:solidFill>
                  <a:srgbClr val="8A8A8A"/>
                </a:solidFill>
                <a:latin typeface="Arial"/>
              </a:defRPr>
            </a:pPr>
            <a:r>
              <a:t>Volumen total comercializado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4023360"/>
            <a:ext cx="329184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OPS. PENDIENTES</a:t>
            </a:r>
          </a:p>
          <a:p>
            <a:pPr>
              <a:spcAft>
                <a:spcPts val="600"/>
              </a:spcAft>
              <a:defRPr sz="3800" b="1">
                <a:solidFill>
                  <a:srgbClr val="F5F4F0"/>
                </a:solidFill>
                <a:latin typeface="Impact"/>
              </a:defRPr>
            </a:pPr>
            <a:r>
              <a:t>15</a:t>
            </a:r>
          </a:p>
          <a:p>
            <a:pPr>
              <a:defRPr sz="1100">
                <a:solidFill>
                  <a:srgbClr val="8A8A8A"/>
                </a:solidFill>
                <a:latin typeface="Arial"/>
              </a:defRPr>
            </a:pPr>
            <a:r>
              <a:t>En proceso de entrega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55555"/>
                </a:solidFill>
                <a:latin typeface="Arial"/>
              </a:defRPr>
            </a:pPr>
            <a:r>
              <a:t>03 / PRINCIPALES MERCADOS</a:t>
            </a:r>
          </a:p>
          <a:p>
            <a:pPr>
              <a:defRPr sz="3400" b="1">
                <a:solidFill>
                  <a:srgbClr val="111111"/>
                </a:solidFill>
                <a:latin typeface="Impact"/>
              </a:defRPr>
            </a:pPr>
            <a:r>
              <a:t>ANÁLISIS DE PRINCIPALES MERCADOS Y REGIONES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11111"/>
                </a:solidFill>
                <a:latin typeface="Impact"/>
              </a:defRPr>
            </a:pPr>
            <a:r>
              <a:t>DESEMPEÑO POR REGIÓN</a:t>
            </a:r>
          </a:p>
          <a:p>
            <a:pPr>
              <a:defRPr sz="1400" b="1">
                <a:solidFill>
                  <a:srgbClr val="111111"/>
                </a:solidFill>
                <a:latin typeface="Arial"/>
              </a:defRPr>
            </a:pPr>
            <a:r>
              <a:t>• NORTEAMÉRICA</a:t>
            </a:r>
          </a:p>
          <a:p>
            <a:pPr>
              <a:spcAft>
                <a:spcPts val="10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40 operaciones | Valor FOB: $289,058.00 FOB</a:t>
            </a:r>
            <a:br/>
            <a:r>
              <a:t>   $95,183.00 Utilidad (43.9% del total)</a:t>
            </a:r>
          </a:p>
          <a:p>
            <a:pPr>
              <a:defRPr sz="1400" b="1">
                <a:solidFill>
                  <a:srgbClr val="111111"/>
                </a:solidFill>
                <a:latin typeface="Arial"/>
              </a:defRPr>
            </a:pPr>
            <a:r>
              <a:t>• CENTROAMÉRICA</a:t>
            </a:r>
          </a:p>
          <a:p>
            <a:pPr>
              <a:spcAft>
                <a:spcPts val="10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40 operaciones | Valor FOB: $232,879.00 FOB</a:t>
            </a:r>
            <a:br/>
            <a:r>
              <a:t>   $75,241.00 Utilidad (35.4% del total)</a:t>
            </a:r>
          </a:p>
          <a:p>
            <a:pPr>
              <a:defRPr sz="1400" b="1">
                <a:solidFill>
                  <a:srgbClr val="111111"/>
                </a:solidFill>
                <a:latin typeface="Arial"/>
              </a:defRPr>
            </a:pPr>
            <a:r>
              <a:t>• EUROPA</a:t>
            </a:r>
          </a:p>
          <a:p>
            <a:pPr>
              <a:spcAft>
                <a:spcPts val="10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20 operaciones | Valor FOB: $136,328.00 FOB</a:t>
            </a:r>
            <a:br/>
            <a:r>
              <a:t>   $43,648.00 Utilidad (20.7% del total)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11111"/>
                </a:solidFill>
                <a:latin typeface="Impact"/>
              </a:defRPr>
            </a:pPr>
            <a:r>
              <a:t>DESEMPEÑO POR PAÍS DESTINO</a:t>
            </a:r>
          </a:p>
          <a:p>
            <a:pPr>
              <a:defRPr sz="1300" b="1">
                <a:solidFill>
                  <a:srgbClr val="111111"/>
                </a:solidFill>
                <a:latin typeface="Arial"/>
              </a:defRPr>
            </a:pPr>
            <a:r>
              <a:t>• EE.UU. (Mayor valor FOB)</a:t>
            </a:r>
          </a:p>
          <a:p>
            <a:pPr>
              <a:spcAft>
                <a:spcPts val="6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$168,745.00 FOB | $55,601.00 Utilidad | Margen: 33.04%</a:t>
            </a:r>
          </a:p>
          <a:p>
            <a:pPr>
              <a:defRPr sz="1300" b="1">
                <a:solidFill>
                  <a:srgbClr val="111111"/>
                </a:solidFill>
                <a:latin typeface="Arial"/>
              </a:defRPr>
            </a:pPr>
            <a:r>
              <a:t>• España</a:t>
            </a:r>
          </a:p>
          <a:p>
            <a:pPr>
              <a:spcAft>
                <a:spcPts val="6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$136,328.00 FOB | $43,648.00 Utilidad | Margen: 32.04%</a:t>
            </a:r>
          </a:p>
          <a:p>
            <a:pPr>
              <a:defRPr sz="1300" b="1">
                <a:solidFill>
                  <a:srgbClr val="111111"/>
                </a:solidFill>
                <a:latin typeface="Arial"/>
              </a:defRPr>
            </a:pPr>
            <a:r>
              <a:t>• México</a:t>
            </a:r>
          </a:p>
          <a:p>
            <a:pPr>
              <a:spcAft>
                <a:spcPts val="6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$120,313.00 FOB | $39,582.00 Utilidad | Margen: 32.96%</a:t>
            </a:r>
          </a:p>
          <a:p>
            <a:pPr>
              <a:defRPr sz="1300" b="1">
                <a:solidFill>
                  <a:srgbClr val="111111"/>
                </a:solidFill>
                <a:latin typeface="Arial"/>
              </a:defRPr>
            </a:pPr>
            <a:r>
              <a:t>• Guatemala</a:t>
            </a:r>
          </a:p>
          <a:p>
            <a:pPr>
              <a:spcAft>
                <a:spcPts val="6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$119,335.00 FOB | $38,912.00 Utilidad | Margen: 32.59%</a:t>
            </a:r>
          </a:p>
          <a:p>
            <a:pPr>
              <a:defRPr sz="1300" b="1">
                <a:solidFill>
                  <a:srgbClr val="111111"/>
                </a:solidFill>
                <a:latin typeface="Arial"/>
              </a:defRPr>
            </a:pPr>
            <a:r>
              <a:t>• Costa Rica</a:t>
            </a:r>
          </a:p>
          <a:p>
            <a:pPr>
              <a:spcAft>
                <a:spcPts val="600"/>
              </a:spcAft>
              <a:defRPr sz="1100">
                <a:solidFill>
                  <a:srgbClr val="555555"/>
                </a:solidFill>
                <a:latin typeface="Arial"/>
              </a:defRPr>
            </a:pPr>
            <a:r>
              <a:t>   $113,544.00 FOB | $36,329.00 Utilidad | Margen: 32.05%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55555"/>
                </a:solidFill>
                <a:latin typeface="Arial"/>
              </a:defRPr>
            </a:pPr>
            <a:r>
              <a:t>04 / PRODUCTOS MÁS IMPORTANTES</a:t>
            </a:r>
          </a:p>
          <a:p>
            <a:pPr>
              <a:defRPr sz="3400" b="1">
                <a:solidFill>
                  <a:srgbClr val="111111"/>
                </a:solidFill>
                <a:latin typeface="Impact"/>
              </a:defRPr>
            </a:pPr>
            <a:r>
              <a:t>EVALUACIÓN DE PRODUCTOS MÁS IMPORTANTES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01168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11111"/>
                </a:solidFill>
                <a:latin typeface="Impact"/>
              </a:defRPr>
            </a:pPr>
            <a:r>
              <a:t>CAFÉ ESPECIAL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VOLUMEN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26,180 Unid.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VALOR FOB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$170,170 FOB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UTILIDAD</a:t>
            </a:r>
          </a:p>
          <a:p>
            <a:pPr>
              <a:spcAft>
                <a:spcPts val="8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$62,832 Utilidad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ESTADO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Líder absoluto en ingresos y margen de ganancia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645920"/>
            <a:ext cx="201168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3240" y="182880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11111"/>
                </a:solidFill>
                <a:latin typeface="Impact"/>
              </a:defRPr>
            </a:pPr>
            <a:r>
              <a:t>ACEITE AJONJOLÍ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VOLUMEN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11,110 Unid.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VALOR FOB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$138,875 FOB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UTILIDAD</a:t>
            </a:r>
          </a:p>
          <a:p>
            <a:pPr>
              <a:spcAft>
                <a:spcPts val="8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$42,218 Utilidad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ESTADO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Segundo producto con mayor margen generado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645920"/>
            <a:ext cx="201168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57800" y="182880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11111"/>
                </a:solidFill>
                <a:latin typeface="Impact"/>
              </a:defRPr>
            </a:pPr>
            <a:r>
              <a:t>MANÍ PROCESADO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VOLUMEN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14,580 Unid.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VALOR FOB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$119,556 FOB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UTILIDAD</a:t>
            </a:r>
          </a:p>
          <a:p>
            <a:pPr>
              <a:spcAft>
                <a:spcPts val="8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$33,534 Utilidad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ESTADO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Gran volumen de demanda comercial en la región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201168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11111"/>
                </a:solidFill>
                <a:latin typeface="Impact"/>
              </a:defRPr>
            </a:pPr>
            <a:r>
              <a:t>MIEL NATURAL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VOLUMEN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24,180 Unid.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VALOR FOB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$116,064 FOB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UTILIDAD</a:t>
            </a:r>
          </a:p>
          <a:p>
            <a:pPr>
              <a:spcAft>
                <a:spcPts val="8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$38,688 Utilidad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ESTADO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Excelente desempeño de volumen de exportación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645920"/>
            <a:ext cx="2011680" cy="457200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46920" y="182880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11111"/>
                </a:solidFill>
                <a:latin typeface="Impact"/>
              </a:defRPr>
            </a:pPr>
            <a:r>
              <a:t>CACAO EN GRANO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VOLUMEN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16,000 Unid.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VALOR FOB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$113,600 FOB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UTILIDAD</a:t>
            </a:r>
          </a:p>
          <a:p>
            <a:pPr>
              <a:spcAft>
                <a:spcPts val="8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$36,800 Utilidad</a:t>
            </a:r>
          </a:p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ESTADO</a:t>
            </a:r>
          </a:p>
          <a:p>
            <a:pPr>
              <a:spcAft>
                <a:spcPts val="8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Rendimiento constante en los contratos vigentes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05 / RENTABILIDAD Y OPERACIONES PRIORITARIAS</a:t>
            </a:r>
          </a:p>
          <a:p>
            <a:pPr>
              <a:defRPr sz="3400" b="1">
                <a:solidFill>
                  <a:srgbClr val="F5F4F0"/>
                </a:solidFill>
                <a:latin typeface="Impact"/>
              </a:defRPr>
            </a:pPr>
            <a:r>
              <a:t>RENTABILIDAD Y OPERACIONES PRIORITARIAS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F4F0"/>
                </a:solidFill>
                <a:latin typeface="Impact"/>
              </a:defRPr>
            </a:pPr>
            <a:r>
              <a:t>NIVEL DE RENTABILIDAD</a:t>
            </a:r>
          </a:p>
          <a:p>
            <a:pPr>
              <a:defRPr sz="1400" b="1">
                <a:solidFill>
                  <a:srgbClr val="F5F4F0"/>
                </a:solidFill>
                <a:latin typeface="Arial"/>
              </a:defRPr>
            </a:pPr>
            <a:r>
              <a:t>• Rentabilidad Alta: 82 Operaciones</a:t>
            </a:r>
          </a:p>
          <a:p>
            <a:pPr>
              <a:spcAft>
                <a:spcPts val="1200"/>
              </a:spcAft>
              <a:defRPr sz="1200">
                <a:solidFill>
                  <a:srgbClr val="8A8A8A"/>
                </a:solidFill>
                <a:latin typeface="Arial"/>
              </a:defRPr>
            </a:pPr>
            <a:r>
              <a:t>   Margen ≥ 30%. Representa la gran mayoría del portafolio operativo.</a:t>
            </a:r>
          </a:p>
          <a:p>
            <a:pPr>
              <a:defRPr sz="1400" b="1">
                <a:solidFill>
                  <a:srgbClr val="F5F4F0"/>
                </a:solidFill>
                <a:latin typeface="Arial"/>
              </a:defRPr>
            </a:pPr>
            <a:r>
              <a:t>• Rentabilidad Media: 18 Operaciones</a:t>
            </a:r>
          </a:p>
          <a:p>
            <a:pPr>
              <a:spcAft>
                <a:spcPts val="1200"/>
              </a:spcAft>
              <a:defRPr sz="1200">
                <a:solidFill>
                  <a:srgbClr val="8A8A8A"/>
                </a:solidFill>
                <a:latin typeface="Arial"/>
              </a:defRPr>
            </a:pPr>
            <a:r>
              <a:t>   Margen entre 20% y 29.9%. Operaciones estables sin márgenes bajos registrado.</a:t>
            </a:r>
          </a:p>
          <a:p>
            <a:pPr>
              <a:defRPr sz="1400" b="1">
                <a:solidFill>
                  <a:srgbClr val="F5F4F0"/>
                </a:solidFill>
                <a:latin typeface="Arial"/>
              </a:defRPr>
            </a:pPr>
            <a:r>
              <a:t>• Margen Promedio: 32.54%</a:t>
            </a:r>
          </a:p>
          <a:p>
            <a:pPr>
              <a:spcAft>
                <a:spcPts val="1200"/>
              </a:spcAft>
              <a:defRPr sz="1200">
                <a:solidFill>
                  <a:srgbClr val="8A8A8A"/>
                </a:solidFill>
                <a:latin typeface="Arial"/>
              </a:defRPr>
            </a:pPr>
            <a:r>
              <a:t>   Elevada solidez operativa en la estructura de costos exportadora.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F4F0"/>
                </a:solidFill>
                <a:latin typeface="Impact"/>
              </a:defRPr>
            </a:pPr>
            <a:r>
              <a:t>PRIORIDAD COMERCIAL</a:t>
            </a:r>
          </a:p>
          <a:p>
            <a:pPr>
              <a:defRPr sz="1400" b="1">
                <a:solidFill>
                  <a:srgbClr val="F5F4F0"/>
                </a:solidFill>
                <a:latin typeface="Arial"/>
              </a:defRPr>
            </a:pPr>
            <a:r>
              <a:t>• Prioridad Alta: 48 Operaciones</a:t>
            </a:r>
          </a:p>
          <a:p>
            <a:pPr>
              <a:spcAft>
                <a:spcPts val="1200"/>
              </a:spcAft>
              <a:defRPr sz="1200">
                <a:solidFill>
                  <a:srgbClr val="8A8A8A"/>
                </a:solidFill>
                <a:latin typeface="Arial"/>
              </a:defRPr>
            </a:pPr>
            <a:r>
              <a:t>   Contratos clave en mercados estratégicos con alta rentabilidad.</a:t>
            </a:r>
          </a:p>
          <a:p>
            <a:pPr>
              <a:defRPr sz="1400" b="1">
                <a:solidFill>
                  <a:srgbClr val="F5F4F0"/>
                </a:solidFill>
                <a:latin typeface="Arial"/>
              </a:defRPr>
            </a:pPr>
            <a:r>
              <a:t>• Prioridad Media: 46 Operaciones</a:t>
            </a:r>
          </a:p>
          <a:p>
            <a:pPr>
              <a:spcAft>
                <a:spcPts val="1200"/>
              </a:spcAft>
              <a:defRPr sz="1200">
                <a:solidFill>
                  <a:srgbClr val="8A8A8A"/>
                </a:solidFill>
                <a:latin typeface="Arial"/>
              </a:defRPr>
            </a:pPr>
            <a:r>
              <a:t>   Mercados consolidados con rentabilidad media o de oportunidad estratégica.</a:t>
            </a:r>
          </a:p>
          <a:p>
            <a:pPr>
              <a:defRPr sz="1400" b="1">
                <a:solidFill>
                  <a:srgbClr val="F5F4F0"/>
                </a:solidFill>
                <a:latin typeface="Arial"/>
              </a:defRPr>
            </a:pPr>
            <a:r>
              <a:t>• Prioridad Baja: 6 Operaciones</a:t>
            </a:r>
          </a:p>
          <a:p>
            <a:pPr>
              <a:spcAft>
                <a:spcPts val="1200"/>
              </a:spcAft>
              <a:defRPr sz="1200">
                <a:solidFill>
                  <a:srgbClr val="8A8A8A"/>
                </a:solidFill>
                <a:latin typeface="Arial"/>
              </a:defRPr>
            </a:pPr>
            <a:r>
              <a:t>   Operaciones puntuales con menor rendimiento relativo acumulado.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55555"/>
                </a:solidFill>
                <a:latin typeface="Arial"/>
              </a:defRPr>
            </a:pPr>
            <a:r>
              <a:t>06 / PRINCIPALES HALLAZGOS</a:t>
            </a:r>
          </a:p>
          <a:p>
            <a:pPr>
              <a:defRPr sz="3400" b="1">
                <a:solidFill>
                  <a:srgbClr val="111111"/>
                </a:solidFill>
                <a:latin typeface="Impact"/>
              </a:defRPr>
            </a:pPr>
            <a:r>
              <a:t>PRINCIPALES HALLAZGOS DEL ANÁLISIS 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210312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111"/>
                </a:solidFill>
                <a:latin typeface="Impact"/>
              </a:defRPr>
            </a:pPr>
            <a:r>
              <a:t>01. CONCENTRACIÓN EN EE.UU. Y CLIENTES LÍDERES</a:t>
            </a:r>
          </a:p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EE.UU. genera $168,745.00 en valor FOB (25.6% del total), con un peso determinante del cliente Global Foods en los resultados de ventas.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120640" cy="210312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111"/>
                </a:solidFill>
                <a:latin typeface="Impact"/>
              </a:defRPr>
            </a:pPr>
            <a:r>
              <a:t>02. CAFÉ ESPECIAL COMO PRODUCTO INSIGNIA</a:t>
            </a:r>
          </a:p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Representa $62,832.00 en utilidad (29.3% de la ganancia total), posicionándose como el rubro más rentable del catálogo comercial.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210312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111"/>
                </a:solidFill>
                <a:latin typeface="Impact"/>
              </a:defRPr>
            </a:pPr>
            <a:r>
              <a:t>03. EXCELENTE SALUD DE MÁRGENES OPERATIVOS</a:t>
            </a:r>
          </a:p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El 82% de las operaciones alcanza una rentabilidad Alta (≥30%) y el margen medio general se consolida en un sólido 32.54%.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114800"/>
            <a:ext cx="5120640" cy="2103120"/>
          </a:xfrm>
          <a:prstGeom prst="rect">
            <a:avLst/>
          </a:prstGeom>
          <a:solidFill>
            <a:srgbClr val="C9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111"/>
                </a:solidFill>
                <a:latin typeface="Impact"/>
              </a:defRPr>
            </a:pPr>
            <a:r>
              <a:t>04. ATENCIÓN A 15 CONTRATOS PENDIENTES</a:t>
            </a:r>
          </a:p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Existen 15 operaciones retenidas en estado 'Pendiente' que impactan el flujo de caja y requieren agilización en la cadena logística.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A8A8A"/>
                </a:solidFill>
                <a:latin typeface="Arial"/>
              </a:defRPr>
            </a:pPr>
            <a:r>
              <a:t>07 / CONCLUSIONES Y RECOMENDACIONES</a:t>
            </a:r>
          </a:p>
          <a:p>
            <a:pPr>
              <a:defRPr sz="3400" b="1">
                <a:solidFill>
                  <a:srgbClr val="F5F4F0"/>
                </a:solidFill>
                <a:latin typeface="Impact"/>
              </a:defRPr>
            </a:pPr>
            <a:r>
              <a:t>CONCLUSIONES Y RECOMENDACIONES GERENCIALES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F4F0"/>
                </a:solidFill>
                <a:latin typeface="Impact"/>
              </a:defRPr>
            </a:pPr>
            <a:r>
              <a:t>CONCLUSIONES</a:t>
            </a:r>
          </a:p>
          <a:p>
            <a:pPr>
              <a:spcAft>
                <a:spcPts val="1000"/>
              </a:spcAft>
              <a:defRPr sz="1300">
                <a:solidFill>
                  <a:srgbClr val="F5F4F0"/>
                </a:solidFill>
                <a:latin typeface="Arial"/>
              </a:defRPr>
            </a:pPr>
            <a:r>
              <a:t>• NicaExport Trading, S.A. posee un modelo rentable con un margen promedio sostenido de 32.54%.</a:t>
            </a:r>
          </a:p>
          <a:p>
            <a:pPr>
              <a:spcAft>
                <a:spcPts val="1000"/>
              </a:spcAft>
              <a:defRPr sz="1300">
                <a:solidFill>
                  <a:srgbClr val="F5F4F0"/>
                </a:solidFill>
                <a:latin typeface="Arial"/>
              </a:defRPr>
            </a:pPr>
            <a:r>
              <a:t>• Norteamérica y Centroamérica concentran el 79.3% de la facturación global de la empresa.</a:t>
            </a:r>
          </a:p>
          <a:p>
            <a:pPr>
              <a:spcAft>
                <a:spcPts val="1000"/>
              </a:spcAft>
              <a:defRPr sz="1300">
                <a:solidFill>
                  <a:srgbClr val="F5F4F0"/>
                </a:solidFill>
                <a:latin typeface="Arial"/>
              </a:defRPr>
            </a:pPr>
            <a:r>
              <a:t>• El Café Especial y el Aceite de Ajonjolí constituyen los motores principales de rentabilidad.</a:t>
            </a:r>
          </a:p>
          <a:p>
            <a:pPr>
              <a:spcAft>
                <a:spcPts val="1000"/>
              </a:spcAft>
              <a:defRPr sz="1300">
                <a:solidFill>
                  <a:srgbClr val="F5F4F0"/>
                </a:solidFill>
                <a:latin typeface="Arial"/>
              </a:defRPr>
            </a:pPr>
            <a:r>
              <a:t>• La matriz de prioridad comercial (48 operaciones en alta) refleja un enfoque adecuado del negocio.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5F4F0"/>
                </a:solidFill>
                <a:latin typeface="Impact"/>
              </a:defRPr>
            </a:pPr>
            <a:r>
              <a:rPr dirty="0"/>
              <a:t>RECOMENDACIONES</a:t>
            </a:r>
          </a:p>
          <a:p>
            <a:pPr>
              <a:spcAft>
                <a:spcPts val="1000"/>
              </a:spcAft>
              <a:defRPr sz="1300">
                <a:solidFill>
                  <a:srgbClr val="F5F4F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Crecimiento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Mercado Europeo: </a:t>
            </a:r>
            <a:r>
              <a:rPr dirty="0" err="1"/>
              <a:t>Incrementar</a:t>
            </a:r>
            <a:r>
              <a:rPr dirty="0"/>
              <a:t> </a:t>
            </a:r>
            <a:r>
              <a:rPr dirty="0" err="1"/>
              <a:t>volumen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España </a:t>
            </a:r>
            <a:r>
              <a:rPr dirty="0" err="1"/>
              <a:t>aprovechando</a:t>
            </a:r>
            <a:r>
              <a:rPr dirty="0"/>
              <a:t> la </a:t>
            </a:r>
            <a:r>
              <a:rPr dirty="0" err="1"/>
              <a:t>preferencia</a:t>
            </a:r>
            <a:r>
              <a:rPr dirty="0"/>
              <a:t> </a:t>
            </a:r>
            <a:r>
              <a:rPr dirty="0" err="1"/>
              <a:t>arancelaria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300">
                <a:solidFill>
                  <a:srgbClr val="F5F4F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Optimización</a:t>
            </a:r>
            <a:r>
              <a:rPr dirty="0"/>
              <a:t> de Costos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Maní</a:t>
            </a:r>
            <a:r>
              <a:rPr dirty="0"/>
              <a:t>: </a:t>
            </a:r>
            <a:r>
              <a:rPr dirty="0" err="1"/>
              <a:t>Revisar</a:t>
            </a:r>
            <a:r>
              <a:rPr dirty="0"/>
              <a:t> el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unitario</a:t>
            </a:r>
            <a:r>
              <a:rPr dirty="0"/>
              <a:t> del </a:t>
            </a:r>
            <a:r>
              <a:rPr dirty="0" err="1"/>
              <a:t>Maní</a:t>
            </a:r>
            <a:r>
              <a:rPr dirty="0"/>
              <a:t> </a:t>
            </a:r>
            <a:r>
              <a:rPr dirty="0" err="1"/>
              <a:t>Procesado</a:t>
            </a:r>
            <a:r>
              <a:rPr dirty="0"/>
              <a:t> para </a:t>
            </a: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rentabilidad</a:t>
            </a:r>
            <a:r>
              <a:rPr dirty="0"/>
              <a:t> </a:t>
            </a:r>
            <a:r>
              <a:rPr dirty="0" err="1"/>
              <a:t>relativa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300">
                <a:solidFill>
                  <a:srgbClr val="F5F4F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Fidelización</a:t>
            </a:r>
            <a:r>
              <a:rPr dirty="0"/>
              <a:t> </a:t>
            </a:r>
            <a:r>
              <a:rPr dirty="0" err="1"/>
              <a:t>Estratégica</a:t>
            </a:r>
            <a:r>
              <a:rPr dirty="0"/>
              <a:t>: </a:t>
            </a:r>
            <a:r>
              <a:rPr dirty="0" err="1"/>
              <a:t>Consolidar</a:t>
            </a:r>
            <a:r>
              <a:rPr dirty="0"/>
              <a:t> </a:t>
            </a:r>
            <a:r>
              <a:rPr dirty="0" err="1"/>
              <a:t>acuerdos</a:t>
            </a:r>
            <a:r>
              <a:rPr dirty="0"/>
              <a:t> a largo </a:t>
            </a:r>
            <a:r>
              <a:rPr dirty="0" err="1"/>
              <a:t>plazo</a:t>
            </a:r>
            <a:r>
              <a:rPr dirty="0"/>
              <a:t> con </a:t>
            </a:r>
            <a:r>
              <a:rPr dirty="0" err="1"/>
              <a:t>clientes</a:t>
            </a:r>
            <a:r>
              <a:rPr dirty="0"/>
              <a:t> clave </a:t>
            </a:r>
            <a:r>
              <a:rPr dirty="0" err="1"/>
              <a:t>como</a:t>
            </a:r>
            <a:r>
              <a:rPr dirty="0"/>
              <a:t> Global Foods y </a:t>
            </a:r>
            <a:r>
              <a:rPr dirty="0" err="1"/>
              <a:t>Comercial</a:t>
            </a:r>
            <a:r>
              <a:rPr dirty="0"/>
              <a:t> Azteca.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948</Words>
  <Application>Microsoft Office PowerPoint</Application>
  <PresentationFormat>Panorámica</PresentationFormat>
  <Paragraphs>140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2026-09-14T03:06:26Z</dcterms:modified>
  <cp:category/>
</cp:coreProperties>
</file>